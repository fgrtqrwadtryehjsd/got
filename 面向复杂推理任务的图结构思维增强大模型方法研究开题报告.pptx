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24"/>
  </p:handoutMasterIdLst>
  <p:sldIdLst>
    <p:sldId id="270" r:id="rId3"/>
    <p:sldId id="267" r:id="rId4"/>
    <p:sldId id="266" r:id="rId5"/>
    <p:sldId id="258" r:id="rId6"/>
    <p:sldId id="273" r:id="rId8"/>
    <p:sldId id="286" r:id="rId9"/>
    <p:sldId id="272" r:id="rId10"/>
    <p:sldId id="284" r:id="rId11"/>
    <p:sldId id="283" r:id="rId12"/>
    <p:sldId id="274" r:id="rId13"/>
    <p:sldId id="275" r:id="rId14"/>
    <p:sldId id="287" r:id="rId15"/>
    <p:sldId id="281" r:id="rId16"/>
    <p:sldId id="288" r:id="rId17"/>
    <p:sldId id="276" r:id="rId18"/>
    <p:sldId id="277" r:id="rId19"/>
    <p:sldId id="289" r:id="rId20"/>
    <p:sldId id="280" r:id="rId21"/>
    <p:sldId id="282" r:id="rId22"/>
    <p:sldId id="27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1" userDrawn="1">
          <p15:clr>
            <a:srgbClr val="A4A3A4"/>
          </p15:clr>
        </p15:guide>
        <p15:guide id="2" pos="380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8676A"/>
    <a:srgbClr val="DD9FA1"/>
    <a:srgbClr val="F315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 showGuides="1">
      <p:cViewPr varScale="1">
        <p:scale>
          <a:sx n="105" d="100"/>
          <a:sy n="105" d="100"/>
        </p:scale>
        <p:origin x="120" y="240"/>
      </p:cViewPr>
      <p:guideLst>
        <p:guide orient="horz" pos="2141"/>
        <p:guide pos="380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43" y="5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BF63B-0727-4164-B51E-413678B97AD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FB07C5-0BCC-4AA1-B660-2A3B68BCE26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5F6E9E-0F07-431A-98EE-A3660473E11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2B7E9F-14AC-43B6-BDED-090CA261D8A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2.wdp"/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93" y="5319906"/>
            <a:ext cx="2512903" cy="1532258"/>
          </a:xfrm>
          <a:prstGeom prst="rect">
            <a:avLst/>
          </a:prstGeom>
        </p:spPr>
      </p:pic>
      <p:cxnSp>
        <p:nvCxnSpPr>
          <p:cNvPr id="6" name="直接连接符 5"/>
          <p:cNvCxnSpPr/>
          <p:nvPr userDrawn="1"/>
        </p:nvCxnSpPr>
        <p:spPr>
          <a:xfrm>
            <a:off x="5199017" y="991069"/>
            <a:ext cx="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框 6"/>
          <p:cNvSpPr txBox="1"/>
          <p:nvPr userDrawn="1"/>
        </p:nvSpPr>
        <p:spPr>
          <a:xfrm flipH="1">
            <a:off x="2749235" y="4505255"/>
            <a:ext cx="2589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学   院</a:t>
            </a:r>
            <a:r>
              <a:rPr lang="en-US" altLang="zh-CN" b="1" dirty="0">
                <a:solidFill>
                  <a:schemeClr val="bg1"/>
                </a:solidFill>
              </a:rPr>
              <a:t>: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 flipH="1">
            <a:off x="7445185" y="4505255"/>
            <a:ext cx="1666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导   师</a:t>
            </a:r>
            <a:r>
              <a:rPr lang="en-US" altLang="zh-CN" b="1" dirty="0">
                <a:solidFill>
                  <a:schemeClr val="bg1"/>
                </a:solidFill>
              </a:rPr>
              <a:t>: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 userDrawn="1"/>
        </p:nvSpPr>
        <p:spPr>
          <a:xfrm flipH="1">
            <a:off x="5159048" y="4519503"/>
            <a:ext cx="17703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学   生</a:t>
            </a:r>
            <a:r>
              <a:rPr lang="en-US" altLang="zh-CN" b="1" dirty="0">
                <a:solidFill>
                  <a:schemeClr val="bg1"/>
                </a:solidFill>
              </a:rPr>
              <a:t>:</a:t>
            </a:r>
            <a:endParaRPr lang="zh-CN" altLang="en-US" b="0" dirty="0">
              <a:solidFill>
                <a:schemeClr val="bg1"/>
              </a:solidFill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2846873" y="2033382"/>
            <a:ext cx="109993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 userDrawn="1"/>
        </p:nvCxnSpPr>
        <p:spPr>
          <a:xfrm>
            <a:off x="2846873" y="3782070"/>
            <a:ext cx="6173133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 userDrawn="1"/>
        </p:nvCxnSpPr>
        <p:spPr>
          <a:xfrm>
            <a:off x="7992030" y="2033382"/>
            <a:ext cx="1027976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97365" y="1451577"/>
            <a:ext cx="4001328" cy="1163610"/>
          </a:xfrm>
          <a:prstGeom prst="rect">
            <a:avLst/>
          </a:prstGeom>
        </p:spPr>
      </p:pic>
      <p:sp>
        <p:nvSpPr>
          <p:cNvPr id="20" name="文本占位符 19"/>
          <p:cNvSpPr>
            <a:spLocks noGrp="1"/>
          </p:cNvSpPr>
          <p:nvPr>
            <p:ph type="body" sz="quarter" idx="10" hasCustomPrompt="1"/>
          </p:nvPr>
        </p:nvSpPr>
        <p:spPr>
          <a:xfrm>
            <a:off x="997352" y="2702548"/>
            <a:ext cx="10197296" cy="914400"/>
          </a:xfrm>
        </p:spPr>
        <p:txBody>
          <a:bodyPr>
            <a:normAutofit/>
          </a:bodyPr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点击此处编辑开题</a:t>
            </a:r>
            <a:r>
              <a:rPr lang="en-US" altLang="zh-CN" dirty="0"/>
              <a:t>/</a:t>
            </a:r>
            <a:r>
              <a:rPr lang="zh-CN" altLang="en-US" dirty="0"/>
              <a:t>毕业答辩标题</a:t>
            </a:r>
            <a:endParaRPr lang="zh-CN" altLang="en-US" dirty="0"/>
          </a:p>
        </p:txBody>
      </p:sp>
      <p:sp>
        <p:nvSpPr>
          <p:cNvPr id="21" name="日期占位符 3"/>
          <p:cNvSpPr>
            <a:spLocks noGrp="1"/>
          </p:cNvSpPr>
          <p:nvPr>
            <p:ph type="dt" sz="half" idx="11"/>
          </p:nvPr>
        </p:nvSpPr>
        <p:spPr>
          <a:xfrm>
            <a:off x="5560808" y="6538191"/>
            <a:ext cx="1167983" cy="369322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/>
                </a:solidFill>
              </a:defRPr>
            </a:lvl1pPr>
          </a:lstStyle>
          <a:p>
            <a:fld id="{0E98E194-BDB6-4F57-849F-91224F852A9A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24" name="文本占位符 19"/>
          <p:cNvSpPr>
            <a:spLocks noGrp="1"/>
          </p:cNvSpPr>
          <p:nvPr>
            <p:ph type="body" sz="quarter" idx="12" hasCustomPrompt="1"/>
          </p:nvPr>
        </p:nvSpPr>
        <p:spPr>
          <a:xfrm>
            <a:off x="3550279" y="4539990"/>
            <a:ext cx="1468224" cy="369332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学院名称</a:t>
            </a:r>
            <a:endParaRPr lang="zh-CN" altLang="en-US" dirty="0"/>
          </a:p>
        </p:txBody>
      </p:sp>
      <p:sp>
        <p:nvSpPr>
          <p:cNvPr id="25" name="文本占位符 19"/>
          <p:cNvSpPr>
            <a:spLocks noGrp="1"/>
          </p:cNvSpPr>
          <p:nvPr>
            <p:ph type="body" sz="quarter" idx="13" hasCustomPrompt="1"/>
          </p:nvPr>
        </p:nvSpPr>
        <p:spPr>
          <a:xfrm>
            <a:off x="5946236" y="4552403"/>
            <a:ext cx="1468224" cy="369332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学生姓名</a:t>
            </a:r>
            <a:endParaRPr lang="zh-CN" altLang="en-US" dirty="0"/>
          </a:p>
        </p:txBody>
      </p:sp>
      <p:sp>
        <p:nvSpPr>
          <p:cNvPr id="26" name="文本占位符 19"/>
          <p:cNvSpPr>
            <a:spLocks noGrp="1"/>
          </p:cNvSpPr>
          <p:nvPr>
            <p:ph type="body" sz="quarter" idx="14" hasCustomPrompt="1"/>
          </p:nvPr>
        </p:nvSpPr>
        <p:spPr>
          <a:xfrm>
            <a:off x="8278550" y="4539990"/>
            <a:ext cx="1468224" cy="369332"/>
          </a:xfrm>
        </p:spPr>
        <p:txBody>
          <a:bodyPr>
            <a:normAutofit/>
          </a:bodyPr>
          <a:lstStyle>
            <a:lvl1pPr marL="0" indent="0">
              <a:buNone/>
              <a:defRPr sz="18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导师姓名</a:t>
            </a:r>
            <a:endParaRPr lang="zh-CN" altLang="en-US" dirty="0"/>
          </a:p>
        </p:txBody>
      </p:sp>
      <p:sp>
        <p:nvSpPr>
          <p:cNvPr id="38" name="文本框 37"/>
          <p:cNvSpPr txBox="1"/>
          <p:nvPr userDrawn="1"/>
        </p:nvSpPr>
        <p:spPr>
          <a:xfrm>
            <a:off x="0" y="6575165"/>
            <a:ext cx="1854100" cy="28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XIDIAN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UNIVERSITY</a:t>
            </a:r>
            <a:endParaRPr lang="zh-CN" altLang="en-US" sz="1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9" name="文本框 38"/>
          <p:cNvSpPr txBox="1"/>
          <p:nvPr userDrawn="1"/>
        </p:nvSpPr>
        <p:spPr>
          <a:xfrm>
            <a:off x="10545417" y="6575165"/>
            <a:ext cx="1854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1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厚德  求真  励学  笃行</a:t>
            </a:r>
            <a:endParaRPr lang="zh-CN" altLang="en-US" sz="1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平行四边形 10"/>
          <p:cNvSpPr/>
          <p:nvPr userDrawn="1"/>
        </p:nvSpPr>
        <p:spPr>
          <a:xfrm>
            <a:off x="3995530" y="162046"/>
            <a:ext cx="8144814" cy="6695954"/>
          </a:xfrm>
          <a:prstGeom prst="parallelogram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·</a:t>
            </a:r>
            <a:endParaRPr lang="zh-CN" altLang="en-US" dirty="0"/>
          </a:p>
        </p:txBody>
      </p:sp>
      <p:sp>
        <p:nvSpPr>
          <p:cNvPr id="8" name="平行四边形 7"/>
          <p:cNvSpPr/>
          <p:nvPr userDrawn="1"/>
        </p:nvSpPr>
        <p:spPr>
          <a:xfrm>
            <a:off x="3787186" y="0"/>
            <a:ext cx="8030566" cy="6591782"/>
          </a:xfrm>
          <a:prstGeom prst="parallelogram">
            <a:avLst/>
          </a:prstGeom>
          <a:solidFill>
            <a:schemeClr val="bg1"/>
          </a:solidFill>
          <a:ln>
            <a:noFill/>
          </a:ln>
          <a:effectLst>
            <a:outerShdw blurRad="127000" dist="50800" dir="2700000" sx="101000" sy="101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93" y="5319906"/>
            <a:ext cx="2512903" cy="1532258"/>
          </a:xfrm>
          <a:prstGeom prst="rect">
            <a:avLst/>
          </a:prstGeom>
        </p:spPr>
      </p:pic>
      <p:grpSp>
        <p:nvGrpSpPr>
          <p:cNvPr id="47" name="组合 46"/>
          <p:cNvGrpSpPr/>
          <p:nvPr userDrawn="1"/>
        </p:nvGrpSpPr>
        <p:grpSpPr>
          <a:xfrm>
            <a:off x="348102" y="1702673"/>
            <a:ext cx="2986404" cy="536181"/>
            <a:chOff x="301614" y="2595673"/>
            <a:chExt cx="2626238" cy="394888"/>
          </a:xfrm>
        </p:grpSpPr>
        <p:sp>
          <p:nvSpPr>
            <p:cNvPr id="46" name="任意多边形: 形状 45"/>
            <p:cNvSpPr/>
            <p:nvPr userDrawn="1"/>
          </p:nvSpPr>
          <p:spPr>
            <a:xfrm>
              <a:off x="301614" y="2595673"/>
              <a:ext cx="374921" cy="394888"/>
            </a:xfrm>
            <a:custGeom>
              <a:avLst/>
              <a:gdLst/>
              <a:ahLst/>
              <a:cxnLst/>
              <a:rect l="l" t="t" r="r" b="b"/>
              <a:pathLst>
                <a:path w="374921" h="394888">
                  <a:moveTo>
                    <a:pt x="286194" y="0"/>
                  </a:moveTo>
                  <a:cubicBezTo>
                    <a:pt x="323497" y="0"/>
                    <a:pt x="353073" y="4848"/>
                    <a:pt x="374921" y="14543"/>
                  </a:cubicBezTo>
                  <a:lnTo>
                    <a:pt x="348200" y="93176"/>
                  </a:lnTo>
                  <a:cubicBezTo>
                    <a:pt x="327538" y="78057"/>
                    <a:pt x="300856" y="70498"/>
                    <a:pt x="268154" y="70498"/>
                  </a:cubicBezTo>
                  <a:cubicBezTo>
                    <a:pt x="230851" y="70498"/>
                    <a:pt x="196975" y="82412"/>
                    <a:pt x="166528" y="106240"/>
                  </a:cubicBezTo>
                  <a:cubicBezTo>
                    <a:pt x="136080" y="130068"/>
                    <a:pt x="114323" y="161209"/>
                    <a:pt x="101256" y="199662"/>
                  </a:cubicBezTo>
                  <a:cubicBezTo>
                    <a:pt x="88523" y="237130"/>
                    <a:pt x="88874" y="267285"/>
                    <a:pt x="102310" y="290126"/>
                  </a:cubicBezTo>
                  <a:cubicBezTo>
                    <a:pt x="115745" y="312969"/>
                    <a:pt x="140539" y="324390"/>
                    <a:pt x="176692" y="324390"/>
                  </a:cubicBezTo>
                  <a:cubicBezTo>
                    <a:pt x="210709" y="324390"/>
                    <a:pt x="244477" y="316173"/>
                    <a:pt x="277998" y="299740"/>
                  </a:cubicBezTo>
                  <a:lnTo>
                    <a:pt x="252617" y="374428"/>
                  </a:lnTo>
                  <a:cubicBezTo>
                    <a:pt x="220210" y="388068"/>
                    <a:pt x="181658" y="394888"/>
                    <a:pt x="136960" y="394888"/>
                  </a:cubicBezTo>
                  <a:cubicBezTo>
                    <a:pt x="79444" y="394888"/>
                    <a:pt x="39651" y="377674"/>
                    <a:pt x="17580" y="343247"/>
                  </a:cubicBezTo>
                  <a:cubicBezTo>
                    <a:pt x="-4490" y="308819"/>
                    <a:pt x="-5780" y="262930"/>
                    <a:pt x="13712" y="205578"/>
                  </a:cubicBezTo>
                  <a:cubicBezTo>
                    <a:pt x="34207" y="145269"/>
                    <a:pt x="69831" y="95928"/>
                    <a:pt x="120585" y="57557"/>
                  </a:cubicBezTo>
                  <a:cubicBezTo>
                    <a:pt x="171339" y="19186"/>
                    <a:pt x="226542" y="0"/>
                    <a:pt x="286194" y="0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5" name="任意多边形: 形状 44"/>
            <p:cNvSpPr/>
            <p:nvPr userDrawn="1"/>
          </p:nvSpPr>
          <p:spPr>
            <a:xfrm>
              <a:off x="645875" y="2595673"/>
              <a:ext cx="402549" cy="394888"/>
            </a:xfrm>
            <a:custGeom>
              <a:avLst/>
              <a:gdLst/>
              <a:ahLst/>
              <a:cxnLst/>
              <a:rect l="l" t="t" r="r" b="b"/>
              <a:pathLst>
                <a:path w="402549" h="394888">
                  <a:moveTo>
                    <a:pt x="273001" y="0"/>
                  </a:moveTo>
                  <a:cubicBezTo>
                    <a:pt x="327559" y="0"/>
                    <a:pt x="365306" y="18159"/>
                    <a:pt x="386241" y="54476"/>
                  </a:cubicBezTo>
                  <a:cubicBezTo>
                    <a:pt x="407177" y="90793"/>
                    <a:pt x="407956" y="137463"/>
                    <a:pt x="388577" y="194486"/>
                  </a:cubicBezTo>
                  <a:cubicBezTo>
                    <a:pt x="368360" y="253974"/>
                    <a:pt x="334658" y="302246"/>
                    <a:pt x="287473" y="339303"/>
                  </a:cubicBezTo>
                  <a:cubicBezTo>
                    <a:pt x="240289" y="376359"/>
                    <a:pt x="188678" y="394888"/>
                    <a:pt x="132641" y="394888"/>
                  </a:cubicBezTo>
                  <a:cubicBezTo>
                    <a:pt x="77919" y="394888"/>
                    <a:pt x="39569" y="376934"/>
                    <a:pt x="17591" y="341028"/>
                  </a:cubicBezTo>
                  <a:cubicBezTo>
                    <a:pt x="-4387" y="305122"/>
                    <a:pt x="-5771" y="258904"/>
                    <a:pt x="13441" y="202374"/>
                  </a:cubicBezTo>
                  <a:cubicBezTo>
                    <a:pt x="33769" y="142557"/>
                    <a:pt x="67773" y="93874"/>
                    <a:pt x="115454" y="56324"/>
                  </a:cubicBezTo>
                  <a:cubicBezTo>
                    <a:pt x="163134" y="18775"/>
                    <a:pt x="215650" y="0"/>
                    <a:pt x="273001" y="0"/>
                  </a:cubicBezTo>
                  <a:close/>
                  <a:moveTo>
                    <a:pt x="246580" y="70498"/>
                  </a:moveTo>
                  <a:cubicBezTo>
                    <a:pt x="214700" y="70498"/>
                    <a:pt x="185577" y="82330"/>
                    <a:pt x="159212" y="105994"/>
                  </a:cubicBezTo>
                  <a:cubicBezTo>
                    <a:pt x="132848" y="129657"/>
                    <a:pt x="113270" y="160305"/>
                    <a:pt x="100481" y="197937"/>
                  </a:cubicBezTo>
                  <a:cubicBezTo>
                    <a:pt x="87861" y="235076"/>
                    <a:pt x="86499" y="265436"/>
                    <a:pt x="96396" y="289017"/>
                  </a:cubicBezTo>
                  <a:cubicBezTo>
                    <a:pt x="106293" y="312599"/>
                    <a:pt x="126853" y="324390"/>
                    <a:pt x="158076" y="324390"/>
                  </a:cubicBezTo>
                  <a:cubicBezTo>
                    <a:pt x="189957" y="324390"/>
                    <a:pt x="218610" y="313092"/>
                    <a:pt x="244038" y="290496"/>
                  </a:cubicBezTo>
                  <a:cubicBezTo>
                    <a:pt x="269466" y="267901"/>
                    <a:pt x="288658" y="237541"/>
                    <a:pt x="301614" y="199416"/>
                  </a:cubicBezTo>
                  <a:cubicBezTo>
                    <a:pt x="315128" y="159648"/>
                    <a:pt x="317181" y="128219"/>
                    <a:pt x="307773" y="105131"/>
                  </a:cubicBezTo>
                  <a:cubicBezTo>
                    <a:pt x="298365" y="82042"/>
                    <a:pt x="277967" y="70498"/>
                    <a:pt x="246580" y="70498"/>
                  </a:cubicBez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4" name="任意多边形: 形状 43"/>
            <p:cNvSpPr/>
            <p:nvPr userDrawn="1"/>
          </p:nvSpPr>
          <p:spPr>
            <a:xfrm>
              <a:off x="1039161" y="2602083"/>
              <a:ext cx="469187" cy="381823"/>
            </a:xfrm>
            <a:custGeom>
              <a:avLst/>
              <a:gdLst/>
              <a:ahLst/>
              <a:cxnLst/>
              <a:rect l="l" t="t" r="r" b="b"/>
              <a:pathLst>
                <a:path w="469187" h="381823">
                  <a:moveTo>
                    <a:pt x="129761" y="0"/>
                  </a:moveTo>
                  <a:lnTo>
                    <a:pt x="218500" y="0"/>
                  </a:lnTo>
                  <a:lnTo>
                    <a:pt x="292692" y="240088"/>
                  </a:lnTo>
                  <a:cubicBezTo>
                    <a:pt x="297629" y="256028"/>
                    <a:pt x="300522" y="266134"/>
                    <a:pt x="301369" y="270407"/>
                  </a:cubicBezTo>
                  <a:lnTo>
                    <a:pt x="302602" y="270407"/>
                  </a:lnTo>
                  <a:cubicBezTo>
                    <a:pt x="304086" y="261204"/>
                    <a:pt x="309240" y="243621"/>
                    <a:pt x="318065" y="217656"/>
                  </a:cubicBezTo>
                  <a:lnTo>
                    <a:pt x="392034" y="0"/>
                  </a:lnTo>
                  <a:lnTo>
                    <a:pt x="469187" y="0"/>
                  </a:lnTo>
                  <a:lnTo>
                    <a:pt x="339426" y="381823"/>
                  </a:lnTo>
                  <a:lnTo>
                    <a:pt x="256110" y="381823"/>
                  </a:lnTo>
                  <a:lnTo>
                    <a:pt x="178348" y="134834"/>
                  </a:lnTo>
                  <a:cubicBezTo>
                    <a:pt x="174322" y="122016"/>
                    <a:pt x="171759" y="111663"/>
                    <a:pt x="170660" y="103775"/>
                  </a:cubicBezTo>
                  <a:lnTo>
                    <a:pt x="169428" y="103775"/>
                  </a:lnTo>
                  <a:cubicBezTo>
                    <a:pt x="166439" y="116921"/>
                    <a:pt x="160282" y="137216"/>
                    <a:pt x="150956" y="164660"/>
                  </a:cubicBezTo>
                  <a:lnTo>
                    <a:pt x="77153" y="381823"/>
                  </a:lnTo>
                  <a:lnTo>
                    <a:pt x="0" y="381823"/>
                  </a:lnTo>
                  <a:lnTo>
                    <a:pt x="129761" y="0"/>
                  </a:ln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3" name="任意多边形: 形状 42"/>
            <p:cNvSpPr/>
            <p:nvPr userDrawn="1"/>
          </p:nvSpPr>
          <p:spPr>
            <a:xfrm>
              <a:off x="1548710" y="2602083"/>
              <a:ext cx="321867" cy="381823"/>
            </a:xfrm>
            <a:custGeom>
              <a:avLst/>
              <a:gdLst/>
              <a:ahLst/>
              <a:cxnLst/>
              <a:rect l="l" t="t" r="r" b="b"/>
              <a:pathLst>
                <a:path w="321867" h="381823">
                  <a:moveTo>
                    <a:pt x="22620" y="0"/>
                  </a:moveTo>
                  <a:lnTo>
                    <a:pt x="321867" y="0"/>
                  </a:lnTo>
                  <a:lnTo>
                    <a:pt x="299247" y="66554"/>
                  </a:lnTo>
                  <a:lnTo>
                    <a:pt x="190296" y="66554"/>
                  </a:lnTo>
                  <a:lnTo>
                    <a:pt x="83154" y="381823"/>
                  </a:lnTo>
                  <a:lnTo>
                    <a:pt x="1564" y="381823"/>
                  </a:lnTo>
                  <a:lnTo>
                    <a:pt x="108705" y="66554"/>
                  </a:lnTo>
                  <a:lnTo>
                    <a:pt x="0" y="66554"/>
                  </a:lnTo>
                  <a:lnTo>
                    <a:pt x="22620" y="0"/>
                  </a:ln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2" name="任意多边形: 形状 41"/>
            <p:cNvSpPr/>
            <p:nvPr userDrawn="1"/>
          </p:nvSpPr>
          <p:spPr>
            <a:xfrm>
              <a:off x="1801161" y="2602083"/>
              <a:ext cx="346925" cy="381823"/>
            </a:xfrm>
            <a:custGeom>
              <a:avLst/>
              <a:gdLst/>
              <a:ahLst/>
              <a:cxnLst/>
              <a:rect l="l" t="t" r="r" b="b"/>
              <a:pathLst>
                <a:path w="346925" h="381823">
                  <a:moveTo>
                    <a:pt x="129761" y="0"/>
                  </a:moveTo>
                  <a:lnTo>
                    <a:pt x="346925" y="0"/>
                  </a:lnTo>
                  <a:lnTo>
                    <a:pt x="324305" y="66554"/>
                  </a:lnTo>
                  <a:lnTo>
                    <a:pt x="188485" y="66554"/>
                  </a:lnTo>
                  <a:lnTo>
                    <a:pt x="157912" y="156525"/>
                  </a:lnTo>
                  <a:lnTo>
                    <a:pt x="284118" y="156525"/>
                  </a:lnTo>
                  <a:lnTo>
                    <a:pt x="261583" y="222833"/>
                  </a:lnTo>
                  <a:lnTo>
                    <a:pt x="135377" y="222833"/>
                  </a:lnTo>
                  <a:lnTo>
                    <a:pt x="103964" y="315269"/>
                  </a:lnTo>
                  <a:lnTo>
                    <a:pt x="248657" y="315269"/>
                  </a:lnTo>
                  <a:lnTo>
                    <a:pt x="226037" y="381823"/>
                  </a:lnTo>
                  <a:lnTo>
                    <a:pt x="0" y="381823"/>
                  </a:lnTo>
                  <a:lnTo>
                    <a:pt x="129761" y="0"/>
                  </a:ln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41" name="任意多边形: 形状 40"/>
            <p:cNvSpPr/>
            <p:nvPr userDrawn="1"/>
          </p:nvSpPr>
          <p:spPr>
            <a:xfrm>
              <a:off x="2096436" y="2602083"/>
              <a:ext cx="469187" cy="381823"/>
            </a:xfrm>
            <a:custGeom>
              <a:avLst/>
              <a:gdLst/>
              <a:ahLst/>
              <a:cxnLst/>
              <a:rect l="l" t="t" r="r" b="b"/>
              <a:pathLst>
                <a:path w="469187" h="381823">
                  <a:moveTo>
                    <a:pt x="129761" y="0"/>
                  </a:moveTo>
                  <a:lnTo>
                    <a:pt x="218500" y="0"/>
                  </a:lnTo>
                  <a:lnTo>
                    <a:pt x="292692" y="240088"/>
                  </a:lnTo>
                  <a:cubicBezTo>
                    <a:pt x="297629" y="256028"/>
                    <a:pt x="300522" y="266134"/>
                    <a:pt x="301369" y="270407"/>
                  </a:cubicBezTo>
                  <a:lnTo>
                    <a:pt x="302602" y="270407"/>
                  </a:lnTo>
                  <a:cubicBezTo>
                    <a:pt x="304086" y="261204"/>
                    <a:pt x="309240" y="243621"/>
                    <a:pt x="318065" y="217656"/>
                  </a:cubicBezTo>
                  <a:lnTo>
                    <a:pt x="392034" y="0"/>
                  </a:lnTo>
                  <a:lnTo>
                    <a:pt x="469187" y="0"/>
                  </a:lnTo>
                  <a:lnTo>
                    <a:pt x="339426" y="381823"/>
                  </a:lnTo>
                  <a:lnTo>
                    <a:pt x="256110" y="381823"/>
                  </a:lnTo>
                  <a:lnTo>
                    <a:pt x="178348" y="134834"/>
                  </a:lnTo>
                  <a:cubicBezTo>
                    <a:pt x="174322" y="122016"/>
                    <a:pt x="171759" y="111663"/>
                    <a:pt x="170660" y="103775"/>
                  </a:cubicBezTo>
                  <a:lnTo>
                    <a:pt x="169428" y="103775"/>
                  </a:lnTo>
                  <a:cubicBezTo>
                    <a:pt x="166439" y="116921"/>
                    <a:pt x="160282" y="137216"/>
                    <a:pt x="150956" y="164660"/>
                  </a:cubicBezTo>
                  <a:lnTo>
                    <a:pt x="77154" y="381823"/>
                  </a:lnTo>
                  <a:lnTo>
                    <a:pt x="0" y="381823"/>
                  </a:lnTo>
                  <a:lnTo>
                    <a:pt x="129761" y="0"/>
                  </a:ln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: 形状 39"/>
            <p:cNvSpPr/>
            <p:nvPr userDrawn="1"/>
          </p:nvSpPr>
          <p:spPr>
            <a:xfrm>
              <a:off x="2605985" y="2602083"/>
              <a:ext cx="321867" cy="381823"/>
            </a:xfrm>
            <a:custGeom>
              <a:avLst/>
              <a:gdLst/>
              <a:ahLst/>
              <a:cxnLst/>
              <a:rect l="l" t="t" r="r" b="b"/>
              <a:pathLst>
                <a:path w="321867" h="381823">
                  <a:moveTo>
                    <a:pt x="22620" y="0"/>
                  </a:moveTo>
                  <a:lnTo>
                    <a:pt x="321867" y="0"/>
                  </a:lnTo>
                  <a:lnTo>
                    <a:pt x="299247" y="66554"/>
                  </a:lnTo>
                  <a:lnTo>
                    <a:pt x="190296" y="66554"/>
                  </a:lnTo>
                  <a:lnTo>
                    <a:pt x="83154" y="381823"/>
                  </a:lnTo>
                  <a:lnTo>
                    <a:pt x="1564" y="381823"/>
                  </a:lnTo>
                  <a:lnTo>
                    <a:pt x="108705" y="66554"/>
                  </a:lnTo>
                  <a:lnTo>
                    <a:pt x="0" y="66554"/>
                  </a:lnTo>
                  <a:lnTo>
                    <a:pt x="22620" y="0"/>
                  </a:lnTo>
                  <a:close/>
                </a:path>
              </a:pathLst>
            </a:custGeom>
            <a:gradFill flip="none" rotWithShape="1">
              <a:gsLst>
                <a:gs pos="23000">
                  <a:schemeClr val="bg1">
                    <a:lumMod val="85000"/>
                  </a:schemeClr>
                </a:gs>
                <a:gs pos="88000">
                  <a:srgbClr val="C00000"/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000" y="94677"/>
            <a:ext cx="2392451" cy="695739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 flipH="1">
            <a:off x="5075554" y="1703781"/>
            <a:ext cx="15962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3200" b="1" dirty="0">
                <a:solidFill>
                  <a:schemeClr val="bg1"/>
                </a:solidFill>
              </a:rPr>
              <a:t>目 录</a:t>
            </a:r>
            <a:endParaRPr lang="zh-CN" altLang="en-US" sz="3200" b="1" dirty="0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 userDrawn="1"/>
        </p:nvSpPr>
        <p:spPr>
          <a:xfrm flipH="1">
            <a:off x="495198" y="1717762"/>
            <a:ext cx="2745139" cy="110799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600" b="1" i="0" dirty="0">
                <a:solidFill>
                  <a:schemeClr val="bg1"/>
                </a:solidFill>
              </a:rPr>
              <a:t>目 录</a:t>
            </a:r>
            <a:endParaRPr lang="zh-CN" altLang="en-US" sz="6600" b="1" i="0" dirty="0">
              <a:solidFill>
                <a:schemeClr val="bg1"/>
              </a:solidFill>
            </a:endParaRPr>
          </a:p>
        </p:txBody>
      </p:sp>
      <p:sp>
        <p:nvSpPr>
          <p:cNvPr id="18" name="标题 1"/>
          <p:cNvSpPr>
            <a:spLocks noGrp="1"/>
          </p:cNvSpPr>
          <p:nvPr>
            <p:ph type="title" hasCustomPrompt="1"/>
          </p:nvPr>
        </p:nvSpPr>
        <p:spPr>
          <a:xfrm>
            <a:off x="6797491" y="1539759"/>
            <a:ext cx="4378266" cy="717306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>
              <a:defRPr sz="3600" b="1"/>
            </a:lvl1pPr>
          </a:lstStyle>
          <a:p>
            <a:r>
              <a:rPr lang="zh-CN" altLang="en-US" dirty="0"/>
              <a:t>单击编辑标题</a:t>
            </a:r>
            <a:r>
              <a:rPr lang="en-US" altLang="zh-CN" dirty="0"/>
              <a:t>1</a:t>
            </a:r>
            <a:endParaRPr lang="zh-CN" altLang="en-US" dirty="0"/>
          </a:p>
        </p:txBody>
      </p:sp>
      <p:sp>
        <p:nvSpPr>
          <p:cNvPr id="25" name="文本占位符 24"/>
          <p:cNvSpPr>
            <a:spLocks noGrp="1"/>
          </p:cNvSpPr>
          <p:nvPr>
            <p:ph type="body" sz="quarter" idx="10" hasCustomPrompt="1"/>
          </p:nvPr>
        </p:nvSpPr>
        <p:spPr>
          <a:xfrm>
            <a:off x="6417878" y="2627048"/>
            <a:ext cx="4378266" cy="6659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36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单击编辑标题</a:t>
            </a:r>
            <a:r>
              <a:rPr lang="en-US" altLang="zh-CN" dirty="0"/>
              <a:t>2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6" name="文本占位符 24"/>
          <p:cNvSpPr>
            <a:spLocks noGrp="1"/>
          </p:cNvSpPr>
          <p:nvPr>
            <p:ph type="body" sz="quarter" idx="11" hasCustomPrompt="1"/>
          </p:nvPr>
        </p:nvSpPr>
        <p:spPr>
          <a:xfrm>
            <a:off x="6185140" y="3601805"/>
            <a:ext cx="4378266" cy="6659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36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单击编辑标题</a:t>
            </a:r>
            <a:r>
              <a:rPr lang="en-US" altLang="zh-CN" dirty="0"/>
              <a:t>3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7" name="文本占位符 24"/>
          <p:cNvSpPr>
            <a:spLocks noGrp="1"/>
          </p:cNvSpPr>
          <p:nvPr>
            <p:ph type="body" sz="quarter" idx="12" hasCustomPrompt="1"/>
          </p:nvPr>
        </p:nvSpPr>
        <p:spPr>
          <a:xfrm>
            <a:off x="5905865" y="4503810"/>
            <a:ext cx="4378266" cy="66596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zh-CN" altLang="en-US" sz="36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/>
              <a:t>单击编辑标题</a:t>
            </a:r>
            <a:r>
              <a:rPr lang="en-US" altLang="zh-CN" dirty="0"/>
              <a:t>4</a:t>
            </a:r>
            <a:endParaRPr lang="zh-CN" altLang="en-US" dirty="0"/>
          </a:p>
          <a:p>
            <a:pPr lvl="0"/>
            <a:endParaRPr lang="zh-CN" altLang="en-US" dirty="0"/>
          </a:p>
        </p:txBody>
      </p:sp>
      <p:sp>
        <p:nvSpPr>
          <p:cNvPr id="28" name="文本占位符 24"/>
          <p:cNvSpPr>
            <a:spLocks noGrp="1"/>
          </p:cNvSpPr>
          <p:nvPr>
            <p:ph type="body" sz="quarter" idx="13" hasCustomPrompt="1"/>
          </p:nvPr>
        </p:nvSpPr>
        <p:spPr>
          <a:xfrm>
            <a:off x="5616498" y="1638036"/>
            <a:ext cx="831162" cy="584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01</a:t>
            </a:r>
            <a:endParaRPr lang="zh-CN" altLang="en-US" dirty="0"/>
          </a:p>
        </p:txBody>
      </p:sp>
      <p:sp>
        <p:nvSpPr>
          <p:cNvPr id="29" name="文本占位符 24"/>
          <p:cNvSpPr>
            <a:spLocks noGrp="1"/>
          </p:cNvSpPr>
          <p:nvPr>
            <p:ph type="body" sz="quarter" idx="14" hasCustomPrompt="1"/>
          </p:nvPr>
        </p:nvSpPr>
        <p:spPr>
          <a:xfrm>
            <a:off x="5264651" y="2635538"/>
            <a:ext cx="831162" cy="584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02</a:t>
            </a:r>
            <a:endParaRPr lang="zh-CN" altLang="en-US" dirty="0"/>
          </a:p>
        </p:txBody>
      </p:sp>
      <p:sp>
        <p:nvSpPr>
          <p:cNvPr id="30" name="文本占位符 24"/>
          <p:cNvSpPr>
            <a:spLocks noGrp="1"/>
          </p:cNvSpPr>
          <p:nvPr>
            <p:ph type="body" sz="quarter" idx="15" hasCustomPrompt="1"/>
          </p:nvPr>
        </p:nvSpPr>
        <p:spPr>
          <a:xfrm>
            <a:off x="4984657" y="3567295"/>
            <a:ext cx="831162" cy="584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03</a:t>
            </a:r>
            <a:endParaRPr lang="zh-CN" altLang="en-US" dirty="0"/>
          </a:p>
        </p:txBody>
      </p:sp>
      <p:sp>
        <p:nvSpPr>
          <p:cNvPr id="31" name="文本占位符 24"/>
          <p:cNvSpPr>
            <a:spLocks noGrp="1"/>
          </p:cNvSpPr>
          <p:nvPr>
            <p:ph type="body" sz="quarter" idx="16" hasCustomPrompt="1"/>
          </p:nvPr>
        </p:nvSpPr>
        <p:spPr>
          <a:xfrm>
            <a:off x="4659973" y="4499052"/>
            <a:ext cx="831162" cy="584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sz="4000" dirty="0"/>
              <a:t>04</a:t>
            </a:r>
            <a:endParaRPr lang="zh-CN" altLang="en-US" dirty="0"/>
          </a:p>
        </p:txBody>
      </p:sp>
      <p:sp>
        <p:nvSpPr>
          <p:cNvPr id="35" name="文本框 34"/>
          <p:cNvSpPr txBox="1"/>
          <p:nvPr userDrawn="1"/>
        </p:nvSpPr>
        <p:spPr>
          <a:xfrm>
            <a:off x="0" y="6575165"/>
            <a:ext cx="1854100" cy="28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kern="1200" dirty="0" err="1">
                <a:solidFill>
                  <a:schemeClr val="bg1"/>
                </a:solidFill>
                <a:latin typeface="+mn-lt"/>
                <a:ea typeface="+mn-ea"/>
                <a:cs typeface="+mn-cs"/>
              </a:rPr>
              <a:t>XIDIAN</a:t>
            </a:r>
            <a:r>
              <a:rPr lang="zh-CN" altLang="en-US" sz="1200" dirty="0">
                <a:solidFill>
                  <a:schemeClr val="bg1"/>
                </a:solidFill>
              </a:rPr>
              <a:t> </a:t>
            </a:r>
            <a:r>
              <a:rPr lang="en-US" altLang="zh-CN" sz="1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UNIVERSITY</a:t>
            </a:r>
            <a:endParaRPr lang="zh-CN" altLang="en-US" sz="1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6" name="文本框 35"/>
          <p:cNvSpPr txBox="1"/>
          <p:nvPr userDrawn="1"/>
        </p:nvSpPr>
        <p:spPr>
          <a:xfrm>
            <a:off x="10545417" y="6575165"/>
            <a:ext cx="1854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12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厚德  求真  励学  笃行</a:t>
            </a:r>
            <a:endParaRPr lang="zh-CN" altLang="en-US" sz="1200" b="1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bg>
      <p:bgPr>
        <a:solidFill>
          <a:srgbClr val="C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804" y="83421"/>
            <a:ext cx="2802590" cy="815010"/>
          </a:xfrm>
          <a:prstGeom prst="rect">
            <a:avLst/>
          </a:prstGeom>
        </p:spPr>
      </p:pic>
      <p:sp>
        <p:nvSpPr>
          <p:cNvPr id="11" name="平行四边形 10"/>
          <p:cNvSpPr/>
          <p:nvPr userDrawn="1"/>
        </p:nvSpPr>
        <p:spPr>
          <a:xfrm>
            <a:off x="2372766" y="2414202"/>
            <a:ext cx="7281778" cy="1845785"/>
          </a:xfrm>
          <a:prstGeom prst="parallelogram">
            <a:avLst/>
          </a:prstGeom>
          <a:solidFill>
            <a:schemeClr val="bg1"/>
          </a:solidFill>
          <a:ln>
            <a:noFill/>
          </a:ln>
          <a:effectLst>
            <a:outerShdw blurRad="127000" dist="50800" dir="2700000" sx="101000" sy="101000" algn="tl" rotWithShape="0">
              <a:prstClr val="black">
                <a:alpha val="5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2" name="平行四边形 11"/>
          <p:cNvSpPr/>
          <p:nvPr userDrawn="1"/>
        </p:nvSpPr>
        <p:spPr>
          <a:xfrm>
            <a:off x="2586606" y="2610278"/>
            <a:ext cx="7281778" cy="1845785"/>
          </a:xfrm>
          <a:prstGeom prst="parallelogram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5" name="文本框 14"/>
          <p:cNvSpPr txBox="1"/>
          <p:nvPr userDrawn="1"/>
        </p:nvSpPr>
        <p:spPr>
          <a:xfrm>
            <a:off x="4977745" y="6409156"/>
            <a:ext cx="24995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i="0" dirty="0">
                <a:solidFill>
                  <a:schemeClr val="bg1"/>
                </a:solidFill>
                <a:effectLst/>
                <a:latin typeface="+mn-ea"/>
              </a:rPr>
              <a:t>厚德  求真  砺学  笃行</a:t>
            </a:r>
            <a:endParaRPr lang="zh-CN" altLang="en-US" b="1" i="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4302721" y="3158630"/>
            <a:ext cx="4031051" cy="8114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3200" b="1"/>
            </a:lvl1pPr>
          </a:lstStyle>
          <a:p>
            <a:r>
              <a:rPr lang="zh-CN" altLang="en-US" dirty="0"/>
              <a:t>单击此处编辑节标题</a:t>
            </a:r>
            <a:endParaRPr lang="zh-CN" altLang="en-US" dirty="0"/>
          </a:p>
        </p:txBody>
      </p:sp>
      <p:sp>
        <p:nvSpPr>
          <p:cNvPr id="20" name="文本占位符 24"/>
          <p:cNvSpPr>
            <a:spLocks noGrp="1"/>
          </p:cNvSpPr>
          <p:nvPr>
            <p:ph type="body" sz="quarter" idx="12" hasCustomPrompt="1"/>
          </p:nvPr>
        </p:nvSpPr>
        <p:spPr>
          <a:xfrm>
            <a:off x="2788612" y="2432178"/>
            <a:ext cx="4378266" cy="66596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3pPr marL="914400" indent="0">
              <a:buNone/>
              <a:defRPr/>
            </a:lvl3pPr>
            <a:lvl6pPr marL="2286000" indent="0">
              <a:buNone/>
              <a:defRPr/>
            </a:lvl6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altLang="zh-CN" dirty="0"/>
              <a:t>PART.</a:t>
            </a:r>
            <a:r>
              <a:rPr lang="zh-CN" altLang="en-US" dirty="0"/>
              <a:t> </a:t>
            </a:r>
            <a:r>
              <a:rPr lang="en-US" altLang="zh-CN" dirty="0"/>
              <a:t>XX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93" y="5319906"/>
            <a:ext cx="2512903" cy="153225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7493" y="5319906"/>
            <a:ext cx="2512903" cy="153225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5274" y="80416"/>
            <a:ext cx="2109442" cy="613438"/>
          </a:xfrm>
          <a:prstGeom prst="rect">
            <a:avLst/>
          </a:prstGeom>
        </p:spPr>
      </p:pic>
      <p:sp>
        <p:nvSpPr>
          <p:cNvPr id="11" name="矩形 10"/>
          <p:cNvSpPr/>
          <p:nvPr userDrawn="1"/>
        </p:nvSpPr>
        <p:spPr>
          <a:xfrm flipV="1">
            <a:off x="0" y="75198"/>
            <a:ext cx="148183" cy="1259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 userDrawn="1"/>
        </p:nvSpPr>
        <p:spPr>
          <a:xfrm flipV="1">
            <a:off x="0" y="247918"/>
            <a:ext cx="148183" cy="1259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 userDrawn="1"/>
        </p:nvSpPr>
        <p:spPr>
          <a:xfrm flipV="1">
            <a:off x="0" y="420638"/>
            <a:ext cx="148183" cy="1259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5761679" y="6593540"/>
            <a:ext cx="668641" cy="258624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16" name="标题 1"/>
          <p:cNvSpPr>
            <a:spLocks noGrp="1"/>
          </p:cNvSpPr>
          <p:nvPr>
            <p:ph type="title" hasCustomPrompt="1"/>
          </p:nvPr>
        </p:nvSpPr>
        <p:spPr>
          <a:xfrm>
            <a:off x="268857" y="-2070"/>
            <a:ext cx="4531743" cy="695924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单击此处编辑子标题样式</a:t>
            </a:r>
            <a:endParaRPr lang="zh-CN" altLang="en-US" dirty="0"/>
          </a:p>
        </p:txBody>
      </p:sp>
      <p:sp>
        <p:nvSpPr>
          <p:cNvPr id="26" name="文本框 25"/>
          <p:cNvSpPr txBox="1"/>
          <p:nvPr userDrawn="1"/>
        </p:nvSpPr>
        <p:spPr>
          <a:xfrm>
            <a:off x="0" y="6575165"/>
            <a:ext cx="1854100" cy="2828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US" altLang="zh-CN" sz="1200" b="1" kern="1200" dirty="0" err="1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XIDIAN</a:t>
            </a:r>
            <a:r>
              <a:rPr lang="zh-CN" altLang="en-US" sz="1200" dirty="0"/>
              <a:t> </a:t>
            </a:r>
            <a:r>
              <a:rPr lang="en-US" altLang="zh-CN" sz="1200" b="1" kern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UNIVERSITY</a:t>
            </a:r>
            <a:endParaRPr lang="zh-CN" altLang="en-US" sz="1200" b="1" kern="1200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7" name="文本框 26"/>
          <p:cNvSpPr txBox="1"/>
          <p:nvPr userDrawn="1"/>
        </p:nvSpPr>
        <p:spPr>
          <a:xfrm>
            <a:off x="10545417" y="6575165"/>
            <a:ext cx="18541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en-US" sz="1200" b="1" kern="1200" dirty="0">
                <a:solidFill>
                  <a:schemeClr val="bg1">
                    <a:lumMod val="85000"/>
                  </a:schemeClr>
                </a:solidFill>
                <a:latin typeface="+mn-lt"/>
                <a:ea typeface="+mn-ea"/>
                <a:cs typeface="+mn-cs"/>
              </a:rPr>
              <a:t>厚德  求真  励学  笃行</a:t>
            </a:r>
            <a:endParaRPr lang="zh-CN" altLang="en-US" sz="1200" b="1" kern="1200" dirty="0">
              <a:solidFill>
                <a:schemeClr val="bg1">
                  <a:lumMod val="85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98E194-BDB6-4F57-849F-91224F852A9A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DA248D-6356-449D-8E61-F6620B03B84B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816B5-24F1-4805-8938-BFCCF544FA0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slow">
    <p:wip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4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.xml"/><Relationship Id="rId8" Type="http://schemas.openxmlformats.org/officeDocument/2006/relationships/tags" Target="../tags/tag14.xml"/><Relationship Id="rId7" Type="http://schemas.openxmlformats.org/officeDocument/2006/relationships/tags" Target="../tags/tag13.xml"/><Relationship Id="rId6" Type="http://schemas.openxmlformats.org/officeDocument/2006/relationships/tags" Target="../tags/tag12.xml"/><Relationship Id="rId5" Type="http://schemas.openxmlformats.org/officeDocument/2006/relationships/tags" Target="../tags/tag1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4.xml"/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zh-CN" altLang="en-US" dirty="0">
                <a:latin typeface="+mj-ea"/>
                <a:sym typeface="+mn-ea"/>
              </a:rPr>
              <a:t>毕业论文开题报告</a:t>
            </a:r>
            <a:endParaRPr lang="zh-CN" altLang="en-US" b="1" dirty="0">
              <a:solidFill>
                <a:schemeClr val="bg1"/>
              </a:solidFill>
              <a:latin typeface="+mj-ea"/>
            </a:endParaRPr>
          </a:p>
          <a:p>
            <a:pPr algn="ctr"/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3550278" y="4539990"/>
            <a:ext cx="1657825" cy="36933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人工智能</a:t>
            </a:r>
            <a:r>
              <a:rPr lang="zh-CN" altLang="en-US" dirty="0"/>
              <a:t>学院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周多</a:t>
            </a:r>
            <a:r>
              <a:rPr lang="zh-CN" altLang="en-US" dirty="0"/>
              <a:t>木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李卫斌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FB4F44-B5D8-4C04-B1CB-16D6C88CD3B4}" type="datetime1">
              <a:rPr lang="zh-CN" altLang="en-US" smtClean="0"/>
            </a:fld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2359660" y="3924300"/>
            <a:ext cx="7472680" cy="3987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sz="2000" spc="300" dirty="0">
                <a:solidFill>
                  <a:schemeClr val="bg1"/>
                </a:solidFill>
                <a:latin typeface="Arial" panose="020B0604020202020204"/>
              </a:rPr>
              <a:t>面向复杂推理任务的图结构思维增强大模型方法研究</a:t>
            </a:r>
            <a:endParaRPr lang="zh-CN" altLang="en-US" sz="2000" spc="300" dirty="0">
              <a:solidFill>
                <a:schemeClr val="bg1"/>
              </a:solidFill>
              <a:latin typeface="Arial" panose="020B0604020202020204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214" y="268383"/>
            <a:ext cx="2714806" cy="603291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选题</a:t>
            </a:r>
            <a:r>
              <a:rPr lang="zh-CN" altLang="en-US" dirty="0"/>
              <a:t>依据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拟研究</a:t>
            </a:r>
            <a:r>
              <a:rPr lang="zh-CN" altLang="en-US" dirty="0"/>
              <a:t>方案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拟采用技术</a:t>
            </a:r>
            <a:r>
              <a:rPr lang="zh-CN" altLang="en-US" dirty="0"/>
              <a:t>路线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研究工作</a:t>
            </a:r>
            <a:r>
              <a:rPr lang="zh-CN" altLang="en-US" dirty="0"/>
              <a:t>积累</a:t>
            </a:r>
            <a:endParaRPr lang="zh-CN" altLang="en-US" dirty="0"/>
          </a:p>
        </p:txBody>
      </p:sp>
      <p:sp>
        <p:nvSpPr>
          <p:cNvPr id="6" name="文本占位符 5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70000"/>
          </a:bodyPr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70000"/>
          </a:bodyPr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70000"/>
          </a:bodyPr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6"/>
          </p:nvPr>
        </p:nvSpPr>
        <p:spPr/>
        <p:txBody>
          <a:bodyPr>
            <a:normAutofit fontScale="70000"/>
          </a:bodyPr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0" name="文本占位符 8"/>
          <p:cNvSpPr>
            <a:spLocks noGrp="1"/>
          </p:cNvSpPr>
          <p:nvPr/>
        </p:nvSpPr>
        <p:spPr>
          <a:xfrm>
            <a:off x="4433278" y="5430597"/>
            <a:ext cx="831162" cy="58477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4000" b="1" i="1" kern="1200" dirty="0" smtClean="0">
                <a:solidFill>
                  <a:srgbClr val="C00000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05</a:t>
            </a:r>
            <a:endParaRPr lang="zh-CN" altLang="en-US" dirty="0"/>
          </a:p>
        </p:txBody>
      </p:sp>
      <p:sp>
        <p:nvSpPr>
          <p:cNvPr id="11" name="文本占位符 4"/>
          <p:cNvSpPr>
            <a:spLocks noGrp="1"/>
          </p:cNvSpPr>
          <p:nvPr/>
        </p:nvSpPr>
        <p:spPr>
          <a:xfrm>
            <a:off x="5815060" y="5405510"/>
            <a:ext cx="4378266" cy="665966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zh-CN" altLang="en-US" sz="36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研究</a:t>
            </a:r>
            <a:r>
              <a:rPr lang="zh-CN" altLang="en-US" dirty="0"/>
              <a:t>计划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75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7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75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7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75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75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75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 build="p"/>
      <p:bldP spid="5" grpId="0" build="p"/>
      <p:bldP spid="6" grpId="0" build="p"/>
      <p:bldP spid="7" grpId="0" build="p"/>
      <p:bldP spid="8" grpId="0" build="p"/>
      <p:bldP spid="9" grpId="0" build="p"/>
      <p:bldP spid="10" grpId="0" build="p"/>
      <p:bldP spid="11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02721" y="3158630"/>
            <a:ext cx="3290775" cy="811485"/>
          </a:xfrm>
        </p:spPr>
        <p:txBody>
          <a:bodyPr>
            <a:normAutofit/>
          </a:bodyPr>
          <a:lstStyle/>
          <a:p>
            <a:r>
              <a:rPr lang="zh-CN" altLang="en-US" dirty="0"/>
              <a:t>选题</a:t>
            </a:r>
            <a:r>
              <a:rPr lang="zh-CN" altLang="en-US" dirty="0"/>
              <a:t>依据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PART. 01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8" y="-2070"/>
            <a:ext cx="2215926" cy="695924"/>
          </a:xfrm>
        </p:spPr>
        <p:txBody>
          <a:bodyPr/>
          <a:lstStyle/>
          <a:p>
            <a:r>
              <a:rPr lang="en-US" altLang="zh-CN" sz="2800" dirty="0"/>
              <a:t>1 </a:t>
            </a:r>
            <a:r>
              <a:rPr lang="zh-CN" altLang="en-US" sz="2800" dirty="0"/>
              <a:t>选题</a:t>
            </a:r>
            <a:r>
              <a:rPr lang="zh-CN" altLang="en-US" sz="2800" dirty="0"/>
              <a:t>依据</a:t>
            </a:r>
            <a:endParaRPr lang="zh-CN" altLang="en-US" sz="2800" dirty="0"/>
          </a:p>
        </p:txBody>
      </p:sp>
      <p:sp>
        <p:nvSpPr>
          <p:cNvPr id="34" name="文本框 33"/>
          <p:cNvSpPr txBox="1"/>
          <p:nvPr/>
        </p:nvSpPr>
        <p:spPr>
          <a:xfrm>
            <a:off x="382270" y="1118870"/>
            <a:ext cx="7932420" cy="2122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1. 现状：线性思维链 (Chain-of-Thought) 的广泛应用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 核心观点：CoT 激活了 LLM 的推理能力，已成为处理逻辑任务的主流范式。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复杂任务中的“线性约束” (The Linear Bottleneck) 痛点分析：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 ❌ 非线性缺失：难以处理多分支、循环、回溯等复杂逻辑（如多跳问答、代码调试）。 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❌ 错误累积 (Error Cascading)：一步错，步步错，线性结构无法自我修正。 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❌ 幻觉 (Hallucination)：缺乏结构化约束，模型容易“一本正经地胡说八道”。</a:t>
            </a:r>
            <a:r>
              <a:rPr lang="en-US" altLang="zh-CN"/>
              <a:t> </a:t>
            </a:r>
            <a:endParaRPr lang="en-US" altLang="zh-CN"/>
          </a:p>
          <a:p>
            <a:endParaRPr lang="zh-CN" altLang="en-US"/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" y="3333750"/>
            <a:ext cx="5848350" cy="2028825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0010" y="3419475"/>
            <a:ext cx="5210175" cy="16764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14350" y="5671820"/>
            <a:ext cx="1007427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>
                <a:latin typeface="楷体" panose="02010609060101010101" charset="-122"/>
                <a:ea typeface="楷体" panose="02010609060101010101" charset="-122"/>
                <a:sym typeface="+mn-ea"/>
              </a:rPr>
              <a:t>参考文献：</a:t>
            </a:r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Turpin et al., "Language Models Don't Always Say What They Think", ACL 2024.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Yao et al., "Tree of Thoughts: Deliberate Problem Solving with LLMs", NeurIPS 2023. 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r>
              <a:rPr lang="en-US" altLang="zh-CN">
                <a:latin typeface="Times New Roman" panose="02020603050405020304" charset="0"/>
                <a:cs typeface="Times New Roman" panose="02020603050405020304" charset="0"/>
                <a:sym typeface="+mn-ea"/>
              </a:rPr>
              <a:t> Wei et al., "Chain-of-Thought Prompting Elicits Reasoning in Large Language Models"</a:t>
            </a:r>
            <a:endParaRPr lang="en-US" altLang="zh-CN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314690" y="1498600"/>
            <a:ext cx="3838575" cy="1743075"/>
          </a:xfrm>
          <a:prstGeom prst="rect">
            <a:avLst/>
          </a:prstGeom>
        </p:spPr>
        <p:txBody>
          <a:bodyPr>
            <a:noAutofit/>
          </a:bodyPr>
          <a:p>
            <a:pPr defTabSz="266700"/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  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针对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所述不足，提出一种图结构思维增强大模型方法，以显式图结构对推理过程进行建模、约束与校验，从而提升模型的逻辑严密性与推理可靠性。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8" y="-2070"/>
            <a:ext cx="3423466" cy="695924"/>
          </a:xfrm>
        </p:spPr>
        <p:txBody>
          <a:bodyPr/>
          <a:lstStyle/>
          <a:p>
            <a:r>
              <a:rPr lang="en-US" altLang="zh-CN" sz="2800" dirty="0"/>
              <a:t>1.2 </a:t>
            </a:r>
            <a:r>
              <a:rPr lang="zh-CN" altLang="en-US" sz="2800" dirty="0"/>
              <a:t>国内外研究现状</a:t>
            </a:r>
            <a:endParaRPr lang="zh-CN" altLang="en-US" sz="2800" dirty="0"/>
          </a:p>
        </p:txBody>
      </p:sp>
      <p:sp>
        <p:nvSpPr>
          <p:cNvPr id="12" name="文本框 11"/>
          <p:cNvSpPr txBox="1"/>
          <p:nvPr/>
        </p:nvSpPr>
        <p:spPr>
          <a:xfrm>
            <a:off x="268605" y="1026795"/>
            <a:ext cx="5080000" cy="2199640"/>
          </a:xfrm>
          <a:prstGeom prst="rect">
            <a:avLst/>
          </a:prstGeom>
        </p:spPr>
        <p:txBody>
          <a:bodyPr>
            <a:noAutofit/>
          </a:bodyPr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Wei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等人（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2022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）提出的思维链（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Chain-of-Thought, CoT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）是该领域的里程碑，证明了通过显式生成中间推理步骤可以激活模型的逻辑能力。然而，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CoT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局限于单向线性的推导模式，难以处理涉及多分支、回溯及条件判断的复杂问题。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defTabSz="266700"/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Yao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等人（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2023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）提出了思维树（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Tree-of-Thoughts, ToT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），引入搜索算法（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BFS/DFS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）探索推理空间。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defTabSz="266700"/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defTabSz="266700"/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76290" y="1146175"/>
            <a:ext cx="6096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defTabSz="266700"/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Besta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等人（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2024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）进一步提出思维图（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Graph-of-Thoughts, GoT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），将“思维单元”建模为图节点，允许任意的依赖聚合与循环反馈。 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76290" y="2020570"/>
            <a:ext cx="6096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当前局限：尽管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GoT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概念先进，但目前的实现主要停留在提示工程（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Prompt Engineering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）层面，即通过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Prompt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诱导模型“模拟”图结构，缺乏底层的、数学形式化的推理状态图表示（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Reasoning State Representation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），导致模型在长链路推理中容易丢失结构信息。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74110"/>
            <a:ext cx="7804785" cy="276796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640" y="3562350"/>
            <a:ext cx="4590415" cy="29711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7804785" y="3226435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当前最新GoT示例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212975" y="3259455"/>
            <a:ext cx="1639570" cy="3822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结构演进过程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5330825" y="1955165"/>
            <a:ext cx="545465" cy="343535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8" y="-2070"/>
            <a:ext cx="3423466" cy="695924"/>
          </a:xfrm>
        </p:spPr>
        <p:txBody>
          <a:bodyPr/>
          <a:lstStyle/>
          <a:p>
            <a:r>
              <a:rPr lang="en-US" altLang="zh-CN" sz="2800" dirty="0"/>
              <a:t>1.2 </a:t>
            </a:r>
            <a:r>
              <a:rPr lang="zh-CN" altLang="en-US" sz="2800" dirty="0"/>
              <a:t>国内外研究现状</a:t>
            </a:r>
            <a:endParaRPr lang="zh-CN" altLang="en-US" sz="2800" dirty="0"/>
          </a:p>
        </p:txBody>
      </p:sp>
      <p:sp>
        <p:nvSpPr>
          <p:cNvPr id="16" name="文本框 15"/>
          <p:cNvSpPr txBox="1"/>
          <p:nvPr/>
        </p:nvSpPr>
        <p:spPr>
          <a:xfrm>
            <a:off x="823595" y="847090"/>
            <a:ext cx="995870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国内学者在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Knowledge Graph (KG) + LLM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方向处于国际前列，主要侧重于利用外部知识增强推理。 结构化知识增强：清华大学团队提出的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GraphLLM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RoG (Reasoning on Graphs)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等工作，通过在知识图谱上检索路径来辅助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LLM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回答问题；浙江大学等团队则在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DeepSeek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等模型微调中探索了结构化数据的指令微调（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SFT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）。 当前局限：国内现有工作多聚焦于“外部知识图谱的检索与利用（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GraphRAG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）”，即用图来管理外部数据。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3595" y="2415540"/>
            <a:ext cx="5221605" cy="40570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958465"/>
            <a:ext cx="5715000" cy="29718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拟研究方案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PART. 02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圆角矩形 6"/>
          <p:cNvSpPr/>
          <p:nvPr>
            <p:custDataLst>
              <p:tags r:id="rId1"/>
            </p:custDataLst>
          </p:nvPr>
        </p:nvSpPr>
        <p:spPr>
          <a:xfrm>
            <a:off x="457200" y="1544955"/>
            <a:ext cx="3585845" cy="4244340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8" y="-2070"/>
            <a:ext cx="3423466" cy="695924"/>
          </a:xfrm>
        </p:spPr>
        <p:txBody>
          <a:bodyPr/>
          <a:lstStyle/>
          <a:p>
            <a:r>
              <a:rPr lang="en-US" altLang="zh-CN" sz="2800" dirty="0"/>
              <a:t>2.1 </a:t>
            </a:r>
            <a:r>
              <a:rPr lang="zh-CN" altLang="en-US" sz="2800" dirty="0"/>
              <a:t>研究内容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482600" y="1826895"/>
            <a:ext cx="3560445" cy="39630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、图结构驱动的推理状态表示框架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     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现有思维链方法因将推理视为单一线性文本序列，难以表征复杂问题的非线性逻辑（如分支验证、多因一果、循环回溯）。本研究构建动态推理图模型，将隐式思维过程映射为显式拓扑结构，创新性定义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事实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过程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目标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三类节点与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“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推导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支撑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互斥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”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三类边关系，实现推理状态的结构化存储与更新，为复杂推理提供全新底层表征。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8006080" y="1758950"/>
            <a:ext cx="3728085" cy="39166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  <a:sym typeface="+mn-ea"/>
              </a:rPr>
              <a:t>3.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图驱动的推理一致性校验与闭环修正机制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传统推理质量评估依赖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自洽性投票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，缺乏逻辑机理的可解释性度量。本研究引入图论算法实现推理链路自动化审计，提出基于图连通性、闭环完整度及逻辑蕴含检测的量化指标。该机制不同于黑盒打分，能精准定位逻辑断层与矛盾环路，触发回溯修正，形成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生成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校验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优化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闭环，大幅提升推理结果可靠性。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318635" y="1826895"/>
            <a:ext cx="323342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  <a:sym typeface="+mn-ea"/>
              </a:rPr>
              <a:t>2.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基于拓扑约束的思维链路生成算法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针对大模型长链路推理中逻辑发散、跳步及幻觉累积问题，本研究摒弃传统自由解码模式，提出基于图拓扑排序的路径规划与约束解码策略。该算法将图论路径可达性与拓扑依赖转化为生成硬约束，强制模型遵循逻辑顺序推导，显著提升生成内容的逻辑严密性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4231640" y="1544320"/>
            <a:ext cx="3480435" cy="424497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>
            <p:custDataLst>
              <p:tags r:id="rId6"/>
            </p:custDataLst>
          </p:nvPr>
        </p:nvSpPr>
        <p:spPr>
          <a:xfrm>
            <a:off x="8006080" y="1544320"/>
            <a:ext cx="3808730" cy="4246245"/>
          </a:xfrm>
          <a:prstGeom prst="roundRect">
            <a:avLst/>
          </a:prstGeom>
          <a:ln>
            <a:solidFill>
              <a:srgbClr val="C00000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8" y="-2070"/>
            <a:ext cx="3423466" cy="695924"/>
          </a:xfrm>
        </p:spPr>
        <p:txBody>
          <a:bodyPr/>
          <a:lstStyle/>
          <a:p>
            <a:r>
              <a:rPr lang="en-US" altLang="zh-CN" sz="2800" dirty="0"/>
              <a:t>2.2 </a:t>
            </a:r>
            <a:r>
              <a:rPr lang="zh-CN" altLang="en-US" sz="2800" dirty="0"/>
              <a:t>研究</a:t>
            </a:r>
            <a:r>
              <a:rPr lang="zh-CN" altLang="en-US" sz="2800" dirty="0"/>
              <a:t>方案</a:t>
            </a:r>
            <a:endParaRPr lang="zh-CN" altLang="en-US" sz="2800" dirty="0"/>
          </a:p>
        </p:txBody>
      </p:sp>
      <p:sp>
        <p:nvSpPr>
          <p:cNvPr id="5" name="文本框 4"/>
          <p:cNvSpPr txBox="1"/>
          <p:nvPr/>
        </p:nvSpPr>
        <p:spPr>
          <a:xfrm>
            <a:off x="645795" y="441325"/>
            <a:ext cx="844931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本研究采用理论建模、算法设计与实证分析深度融合的研究范式，具体方法如下：</a:t>
            </a:r>
            <a:endParaRPr lang="zh-CN" altLang="en-US" sz="1600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1"/>
            </p:custDataLst>
          </p:nvPr>
        </p:nvSpPr>
        <p:spPr>
          <a:xfrm>
            <a:off x="9312275" y="1883410"/>
            <a:ext cx="2564765" cy="42157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对比实验与消融分析法：在公开基准数据集上开展系统性对比实验，通过定量指标与定性分析（相结合的方式，验证所提方法的有效性；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通过消融实验分别评估图表征模块、生成约束机制与一致性校验模块的独立贡献度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，明确各组件的核心作用。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419850" y="1963420"/>
            <a:ext cx="221615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算法设计与工程实现法：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设计融合深度优先搜索与拓扑排序的推理路径规划算法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，开发图约束解码器，将图结构的拓扑约束转化为模型生成过程中的显式引导信号，实现结构化推理引导。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3338830" y="1963420"/>
            <a:ext cx="244221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形式化建模法：采用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图论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作为数学表达工具，对大模型的推理状态进行规范化定义。将推理过程中的实体、证据与结论映射为图节点，逻辑关联关系映射为有向边，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构建具备通用性的推理状态图数学模型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，实现推理过程的结构化表征。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" name="圆角矩形 8"/>
          <p:cNvSpPr/>
          <p:nvPr>
            <p:custDataLst>
              <p:tags r:id="rId4"/>
            </p:custDataLst>
          </p:nvPr>
        </p:nvSpPr>
        <p:spPr>
          <a:xfrm>
            <a:off x="151765" y="1963420"/>
            <a:ext cx="2548255" cy="407416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5"/>
            </p:custDataLst>
          </p:nvPr>
        </p:nvSpPr>
        <p:spPr>
          <a:xfrm>
            <a:off x="268605" y="2068195"/>
            <a:ext cx="212661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文献分析法：系统</a:t>
            </a:r>
            <a:r>
              <a:rPr lang="zh-CN" altLang="en-US" sz="16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梳理国内外大模型思维链、思维图及神经符号推理领域的最新研究进展</a:t>
            </a:r>
            <a:r>
              <a:rPr lang="zh-CN" altLang="en-US" sz="16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，重点剖析现有线性推理范式在复杂逻辑关联建模中的局限性，为图结构增强推理框架的构建奠定坚实理论基础。</a:t>
            </a:r>
            <a:endParaRPr lang="zh-CN" altLang="en-US" sz="16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6" name="圆角矩形 15"/>
          <p:cNvSpPr/>
          <p:nvPr>
            <p:custDataLst>
              <p:tags r:id="rId6"/>
            </p:custDataLst>
          </p:nvPr>
        </p:nvSpPr>
        <p:spPr>
          <a:xfrm>
            <a:off x="3298190" y="1937385"/>
            <a:ext cx="2524125" cy="416242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圆角矩形 16"/>
          <p:cNvSpPr/>
          <p:nvPr>
            <p:custDataLst>
              <p:tags r:id="rId7"/>
            </p:custDataLst>
          </p:nvPr>
        </p:nvSpPr>
        <p:spPr>
          <a:xfrm>
            <a:off x="6278880" y="1883410"/>
            <a:ext cx="2517140" cy="4216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圆角矩形 17"/>
          <p:cNvSpPr/>
          <p:nvPr>
            <p:custDataLst>
              <p:tags r:id="rId8"/>
            </p:custDataLst>
          </p:nvPr>
        </p:nvSpPr>
        <p:spPr>
          <a:xfrm>
            <a:off x="9312275" y="1883410"/>
            <a:ext cx="2517140" cy="421640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下弧形箭头 20"/>
          <p:cNvSpPr/>
          <p:nvPr/>
        </p:nvSpPr>
        <p:spPr>
          <a:xfrm>
            <a:off x="4383405" y="6108700"/>
            <a:ext cx="3353435" cy="545465"/>
          </a:xfrm>
          <a:prstGeom prst="curvedUp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上弧形箭头 21"/>
          <p:cNvSpPr/>
          <p:nvPr/>
        </p:nvSpPr>
        <p:spPr>
          <a:xfrm>
            <a:off x="1171575" y="1341120"/>
            <a:ext cx="3434080" cy="60642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3" name="上弧形箭头 22"/>
          <p:cNvSpPr/>
          <p:nvPr/>
        </p:nvSpPr>
        <p:spPr>
          <a:xfrm>
            <a:off x="7379970" y="1268095"/>
            <a:ext cx="3434080" cy="606425"/>
          </a:xfrm>
          <a:prstGeom prst="curved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拟采用技术路线</a:t>
            </a:r>
            <a:endParaRPr lang="en-US" altLang="zh-CN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PART. 03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7" y="-2070"/>
            <a:ext cx="2694261" cy="695924"/>
          </a:xfrm>
        </p:spPr>
        <p:txBody>
          <a:bodyPr/>
          <a:lstStyle/>
          <a:p>
            <a:r>
              <a:rPr lang="en-US" altLang="zh-CN" sz="2800" dirty="0"/>
              <a:t>3.1 </a:t>
            </a:r>
            <a:r>
              <a:rPr lang="zh-CN" altLang="en-US" sz="2800" dirty="0"/>
              <a:t>技术路线</a:t>
            </a:r>
            <a:endParaRPr lang="zh-CN" altLang="en-US" sz="2800" dirty="0"/>
          </a:p>
        </p:txBody>
      </p:sp>
      <p:sp>
        <p:nvSpPr>
          <p:cNvPr id="18" name="文本框 17"/>
          <p:cNvSpPr txBox="1"/>
          <p:nvPr/>
        </p:nvSpPr>
        <p:spPr>
          <a:xfrm>
            <a:off x="268605" y="1356995"/>
            <a:ext cx="5826760" cy="232346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(1)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图结构驱动的推理状态表示框架研究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定义推理图的形式化模型：建立包含事实节点、过程节点、目标节点及因果、支撑、互斥边关系的数学模型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G=(V,E)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设计动态构图机制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：研究基于大模型的实体关系抽取与状态更新方法，实现推理图随推理进程的动态生长（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Dynamic Growth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），解决静态图无法适应开放域问题的局限。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39090" y="694055"/>
            <a:ext cx="831405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本研究将围绕“表征</a:t>
            </a:r>
            <a:r>
              <a:rPr lang="en-US" altLang="zh-CN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生成</a:t>
            </a:r>
            <a:r>
              <a:rPr lang="en-US" altLang="zh-CN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校验”这一技术主线展开，具体研究内容包括以下四个方面：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735" y="1548765"/>
            <a:ext cx="6184265" cy="487045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965" y="3680460"/>
            <a:ext cx="2505710" cy="28003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2560" y="3828415"/>
            <a:ext cx="3305175" cy="2590800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7" y="-2070"/>
            <a:ext cx="2694261" cy="695924"/>
          </a:xfrm>
        </p:spPr>
        <p:txBody>
          <a:bodyPr/>
          <a:lstStyle/>
          <a:p>
            <a:r>
              <a:rPr lang="en-US" altLang="zh-CN" sz="2800" dirty="0"/>
              <a:t>3.1 </a:t>
            </a:r>
            <a:r>
              <a:rPr lang="zh-CN" altLang="en-US" sz="2800" dirty="0"/>
              <a:t>技术路线</a:t>
            </a:r>
            <a:endParaRPr lang="zh-CN" altLang="en-US" sz="28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00050" y="896620"/>
            <a:ext cx="11392535" cy="230695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(2)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图结构约束的思维链路生成算法设计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基于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拓扑排序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的路径规划：研究如何在推理图中搜索从初始状态到</a:t>
            </a:r>
            <a:r>
              <a:rPr lang="zh-CN" altLang="en-US" sz="1600" b="1">
                <a:solidFill>
                  <a:srgbClr val="FF0000"/>
                </a:solidFill>
                <a:latin typeface="Times New Roman" panose="02020603050405020304"/>
                <a:ea typeface="宋体" panose="02010600030101010101" pitchFamily="2" charset="-122"/>
              </a:rPr>
              <a:t>目标状态的最优路径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，并利用拓扑排序生成逻辑上严密的“执行计划”。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结构化解码策略：设计一种约束解码机制（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Constrained Decoding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），将图中的邻接关系转化为生成过程中的注意力掩码（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Mask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）或引导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Prompt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，强制模型按照规划路径进行推导，抑制非相关分支的干扰。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8605" y="3203575"/>
            <a:ext cx="5067300" cy="275272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7340" y="3429000"/>
            <a:ext cx="6448425" cy="218122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7" y="-2070"/>
            <a:ext cx="2694261" cy="695924"/>
          </a:xfrm>
        </p:spPr>
        <p:txBody>
          <a:bodyPr/>
          <a:lstStyle/>
          <a:p>
            <a:r>
              <a:rPr lang="en-US" altLang="zh-CN" sz="2800" dirty="0"/>
              <a:t>3.1 </a:t>
            </a:r>
            <a:r>
              <a:rPr lang="zh-CN" altLang="en-US" sz="2800" dirty="0"/>
              <a:t>技术</a:t>
            </a:r>
            <a:r>
              <a:rPr lang="zh-CN" altLang="en-US" sz="2800" dirty="0"/>
              <a:t>路线</a:t>
            </a:r>
            <a:endParaRPr lang="zh-CN" altLang="en-US" sz="28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1600" y="1047750"/>
            <a:ext cx="11392535" cy="193802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(3)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图结构驱动的推理一致性校验机制构建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基于图论的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逻辑审计算法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：利用连通性分析（检测断链）、环路检测（检测循环论证）和最大流算法（检测证据覆盖度）来评估推理链路的完整性。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其中流通性和环路检测通过快慢指针的方法来实现。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节点级语义蕴含检测：结合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自然语言推理（</a:t>
            </a: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NLI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）技术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，校验图中相连节点之间是否存在真实的逻辑蕴含关系，构建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Consistency_Score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量化评估模型。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915" y="3039110"/>
            <a:ext cx="4162425" cy="35337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545" y="3429000"/>
            <a:ext cx="6562725" cy="26289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409815" y="3039110"/>
            <a:ext cx="148780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最大流算法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268857" y="-2070"/>
            <a:ext cx="2694261" cy="695924"/>
          </a:xfrm>
        </p:spPr>
        <p:txBody>
          <a:bodyPr/>
          <a:lstStyle/>
          <a:p>
            <a:r>
              <a:rPr lang="en-US" altLang="zh-CN" sz="2800" dirty="0"/>
              <a:t>3.1 </a:t>
            </a:r>
            <a:r>
              <a:rPr lang="zh-CN" altLang="en-US" sz="2800" dirty="0"/>
              <a:t>技术</a:t>
            </a:r>
            <a:r>
              <a:rPr lang="zh-CN" altLang="en-US" sz="2800" dirty="0"/>
              <a:t>路线</a:t>
            </a:r>
            <a:endParaRPr lang="zh-CN" altLang="en-US" sz="2800" dirty="0"/>
          </a:p>
        </p:txBody>
      </p:sp>
      <p:sp>
        <p:nvSpPr>
          <p:cNvPr id="18" name="文本框 17"/>
          <p:cNvSpPr txBox="1"/>
          <p:nvPr/>
        </p:nvSpPr>
        <p:spPr>
          <a:xfrm>
            <a:off x="101600" y="779145"/>
            <a:ext cx="11392535" cy="144526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(4)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原型系统实现与实验验证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系统构建：基于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LLaMA-3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或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GPT-4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接口，集成上述模块，开发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Graph-Enhanced Reasoning System (GERS)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原型系统。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对比实验：选取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HotpotQA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（多跳问答）、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GSM8K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（数学推理）等数据集，对比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Standard CoT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ToT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（思维树）等基线模型。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defTabSz="266700"/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消融实验：分别验证图表征、图生成约束、一致性校验模块对最终性能的独立贡献。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315" y="2370455"/>
            <a:ext cx="4471035" cy="389953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815" y="2872740"/>
            <a:ext cx="6196965" cy="3284855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研究工作</a:t>
            </a:r>
            <a:r>
              <a:rPr lang="zh-CN" altLang="en-US" dirty="0"/>
              <a:t>积累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altLang="zh-CN" dirty="0"/>
              <a:t>PART. 04</a:t>
            </a:r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研究工作</a:t>
            </a:r>
            <a:r>
              <a:rPr lang="zh-CN" altLang="en-US" dirty="0"/>
              <a:t>积累</a:t>
            </a:r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577215" y="883920"/>
            <a:ext cx="9533255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1.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实验环境与算力支撑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实验室已搭建了面向大模型推理与微调的高性能计算平台，能够满足本研究对深度学习模型训练及图算法计算的硬件需求。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862955" y="2745740"/>
            <a:ext cx="5076190" cy="1938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软件环境：已完成基础实验环境的部署，熟练掌握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PyTorch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深度学习框架、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HuggingFace Transformers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库以及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LangChain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大模型开发框架；同时，针对图结构处理，已熟练应用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NetworkX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及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PyG (PyTorch Geometric)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等图论工具库，打通了“大模型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+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图计算”的技术栈。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68605" y="2641600"/>
            <a:ext cx="507619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硬件资源：目前实验室已配备多台高性能服务器，搭载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NVIDIA GeForce RTX 4090 (24GB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显存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) GPU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。该算力配置足以支持主流开源大模型（如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Qwen-3-8B/70B-Int4, DeepSeek-Coder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等）的高效推理，以及基于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LoRA/Q-LoRA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技术的参数高效微调（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PEFT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）实验，确保了算法验证的快速迭代。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5030" y="3625850"/>
            <a:ext cx="4291330" cy="286702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435" y="3726815"/>
            <a:ext cx="4143375" cy="2901315"/>
          </a:xfrm>
          <a:prstGeom prst="rect">
            <a:avLst/>
          </a:prstGeom>
        </p:spPr>
      </p:pic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4.1 </a:t>
            </a:r>
            <a:r>
              <a:rPr lang="zh-CN" altLang="en-US" dirty="0"/>
              <a:t>研究工作</a:t>
            </a:r>
            <a:r>
              <a:rPr lang="zh-CN" altLang="en-US" dirty="0"/>
              <a:t>积累</a:t>
            </a:r>
            <a:endParaRPr lang="zh-CN" altLang="en-US" dirty="0"/>
          </a:p>
        </p:txBody>
      </p:sp>
      <p:sp>
        <p:nvSpPr>
          <p:cNvPr id="9" name="文本框 8"/>
          <p:cNvSpPr txBox="1"/>
          <p:nvPr/>
        </p:nvSpPr>
        <p:spPr>
          <a:xfrm>
            <a:off x="530225" y="431165"/>
            <a:ext cx="10695940" cy="341503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 b="1">
                <a:latin typeface="Times New Roman" panose="02020603050405020304"/>
                <a:ea typeface="Times New Roman" panose="02020603050405020304"/>
              </a:rPr>
              <a:t>2.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数据积累与前期探索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在数据资源方面，课题组前期已在垂直领域（电力系统）进行了深入的探索，积累了丰富的数据构建经验，为本研究向通用领域推广奠定了方法论基础。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已构建电力领域多跳推理数据集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：前期工作中，本人已针对电力系统的复杂故障排查场景，自主构建了一份“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电力多跳推理数据集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”。该数据集包含实体识别、关系抽取及多步因果推导链条，实际上已经初步验证了“将非结构化文本转化为结构化推理链”的可行性。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从专用到通用的迁移路径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：电力数据集的构建过程使本人掌握了复杂逻辑数据的清洗、标注与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知识图谱提取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。本研究将把这一在垂直领域验证成功的“实体关系抽取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→→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逻辑图构建”范式，推广迁移至 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HotpotQA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GSM8K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等通用基准数据集上，技术路线具有极高的可复制性和成功率。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lang="zh-CN" altLang="en-US" dirty="0"/>
              <a:t>计划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/>
        <p:txBody>
          <a:bodyPr>
            <a:normAutofit fontScale="90000" lnSpcReduction="10000"/>
          </a:bodyPr>
          <a:lstStyle/>
          <a:p>
            <a:r>
              <a:rPr lang="en-US" altLang="zh-CN" dirty="0"/>
              <a:t>PART. 05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5100320" y="27266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  <p:transition spd="slow"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圆角矩形 13"/>
          <p:cNvSpPr/>
          <p:nvPr/>
        </p:nvSpPr>
        <p:spPr>
          <a:xfrm>
            <a:off x="657860" y="5364480"/>
            <a:ext cx="10677525" cy="89662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658495" y="4241800"/>
            <a:ext cx="10677525" cy="104267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58495" y="2910840"/>
            <a:ext cx="10677525" cy="120205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58495" y="1851025"/>
            <a:ext cx="10677525" cy="98044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658495" y="555625"/>
            <a:ext cx="10677525" cy="11245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1816B5-24F1-4805-8938-BFCCF544FA08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5.1 </a:t>
            </a:r>
            <a:r>
              <a:rPr lang="zh-CN" altLang="en-US" dirty="0"/>
              <a:t>研究</a:t>
            </a:r>
            <a:r>
              <a:rPr lang="zh-CN" altLang="en-US" dirty="0"/>
              <a:t>预期结果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755650" y="529590"/>
            <a:ext cx="10422255" cy="111823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</a:rPr>
              <a:t>第一阶段：文献调研与理论基础构建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（</a:t>
            </a:r>
            <a:r>
              <a:rPr lang="en-US" sz="1600">
                <a:latin typeface="Times New Roman" panose="02020603050405020304"/>
                <a:ea typeface="宋体" panose="02010600030101010101" pitchFamily="2" charset="-122"/>
              </a:rPr>
              <a:t>2025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12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月到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2026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</a:rPr>
              <a:t>2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月）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文献梳理：系统阅读国内外关于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Chain-of-Thought (CoT)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Tree/Graph-of-Thoughts (ToT/GoT)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、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Neuro-Symbolic AI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及知识图谱推理的最新顶会论文（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</a:rPr>
              <a:t>ACL, ICLR, NeurIPS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</a:rPr>
              <a:t>）。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55650" y="1706245"/>
            <a:ext cx="10646410" cy="13271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第二阶段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核心算法设计与模块开发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（</a:t>
            </a:r>
            <a:r>
              <a:rPr 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8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月）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26670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实现从自然语言问题中提取实体、关系与子任务的功能。实现推理状态图的动态构建与内存维护。设计基于拓扑排序的路径规划算法。开发“图约束解码器”。完成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GERS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（</a:t>
            </a:r>
            <a:r>
              <a:rPr lang="en-US" altLang="zh-CN" sz="1600">
                <a:latin typeface="Times New Roman" panose="02020603050405020304"/>
                <a:ea typeface="Times New Roman" panose="02020603050405020304"/>
                <a:sym typeface="+mn-ea"/>
              </a:rPr>
              <a:t>Graph-Enhanced Reasoning System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）系统的核心代码编写。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42950" y="2921635"/>
            <a:ext cx="10592435" cy="12014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第三阶段：校验机制实现与系统集成（</a:t>
            </a:r>
            <a:r>
              <a:rPr 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9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12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实现图连通性检测与逻辑断链分析算法。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引入</a:t>
            </a:r>
            <a:r>
              <a:rPr lang="en-US" altLang="zh-CN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 NLI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（自然语言推理）模型，构建一致性打分函数</a:t>
            </a:r>
            <a:r>
              <a:rPr lang="en-US" altLang="zh-CN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 (Consistency_Score)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。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实现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“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校验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回溯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-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修正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”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的闭环控制逻辑。</a:t>
            </a:r>
            <a:endParaRPr lang="zh-CN" altLang="en-US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742950" y="4123055"/>
            <a:ext cx="10499725" cy="11620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第四阶段：实验验证与性能优化（</a:t>
            </a:r>
            <a:r>
              <a:rPr 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3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对比实验：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在选定数据集上运行本方法与基线模型，记录准确率、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Token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消耗量及推理耗时。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消融实验：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分别移除图约束、一致性校验模块，分析各组件对性能的贡献度。完成学位论文的初稿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.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55650" y="5295265"/>
            <a:ext cx="1048766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第五阶段：论文撰写与答辩准备（</a:t>
            </a:r>
            <a:r>
              <a:rPr 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4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月到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2027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年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6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月</a:t>
            </a:r>
            <a:r>
              <a:rPr lang="zh-CN" altLang="en-US" sz="1600" b="1">
                <a:latin typeface="Times New Roman" panose="02020603050405020304"/>
                <a:ea typeface="宋体" panose="02010600030101010101" pitchFamily="2" charset="-122"/>
                <a:sym typeface="+mn-ea"/>
              </a:rPr>
              <a:t>）</a:t>
            </a:r>
            <a:endParaRPr lang="zh-CN" altLang="en-US" sz="1600" b="1">
              <a:latin typeface="Times New Roman" panose="02020603050405020304"/>
              <a:ea typeface="宋体" panose="02010600030101010101" pitchFamily="2" charset="-122"/>
            </a:endParaRPr>
          </a:p>
          <a:p>
            <a:pPr marL="0" indent="0" algn="just" defTabSz="2667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   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论文撰写：修改与润色学位论文。答辩准备：制作答辩</a:t>
            </a:r>
            <a:r>
              <a:rPr lang="en-US" altLang="zh-CN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 PPT</a:t>
            </a:r>
            <a:r>
              <a:rPr lang="zh-CN" altLang="en-US" sz="1600">
                <a:latin typeface="Times New Roman" panose="02020603050405020304"/>
                <a:ea typeface="宋体" panose="02010600030101010101" pitchFamily="2" charset="-122"/>
                <a:sym typeface="+mn-ea"/>
              </a:rPr>
              <a:t>，准备系统演示视频，完成最终答辩。</a:t>
            </a:r>
            <a:endParaRPr lang="en-US" altLang="zh-CN" sz="1600">
              <a:latin typeface="Times New Roman" panose="02020603050405020304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>
    <p:wip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</a:rPr>
              <a:t>感谢聆听，恳请指正！</a:t>
            </a:r>
            <a:endParaRPr lang="zh-CN" altLang="en-US" sz="5400" b="1" dirty="0">
              <a:solidFill>
                <a:schemeClr val="bg1"/>
              </a:solidFill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2"/>
          </p:nvPr>
        </p:nvSpPr>
        <p:spPr>
          <a:xfrm>
            <a:off x="3550278" y="4539990"/>
            <a:ext cx="1657825" cy="369332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人工智能</a:t>
            </a:r>
            <a:r>
              <a:rPr lang="zh-CN" altLang="en-US" dirty="0"/>
              <a:t>学院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周多</a:t>
            </a:r>
            <a:r>
              <a:rPr lang="zh-CN" altLang="en-US" dirty="0"/>
              <a:t>木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李卫斌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FFB4F44-B5D8-4C04-B1CB-16D6C88CD3B4}" type="datetime1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 spd="slow">
    <p:wipe/>
  </p:transition>
</p:sld>
</file>

<file path=ppt/tags/tag1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2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3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4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5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6.xml><?xml version="1.0" encoding="utf-8"?>
<p:tagLst xmlns:p="http://schemas.openxmlformats.org/presentationml/2006/main">
  <p:tag name="KSO_WM_DIAGRAM_VIRTUALLY_FRAME" val="{&quot;height&quot;:475.05,&quot;left&quot;:21.15,&quot;top&quot;:58.7,&quot;width&quot;:909.15}"/>
</p:tagLst>
</file>

<file path=ppt/tags/tag7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8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9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10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11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12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13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ags/tag14.xml><?xml version="1.0" encoding="utf-8"?>
<p:tagLst xmlns:p="http://schemas.openxmlformats.org/presentationml/2006/main">
  <p:tag name="KSO_WM_DIAGRAM_VIRTUALLY_FRAME" val="{&quot;height&quot;:332,&quot;left&quot;:11.95,&quot;top&quot;:148.3,&quot;width&quot;:923.2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XDU答辩模板</Template>
  <TotalTime>0</TotalTime>
  <Words>4545</Words>
  <Application>WPS 演示</Application>
  <PresentationFormat>宽屏</PresentationFormat>
  <Paragraphs>214</Paragraphs>
  <Slides>20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Arial</vt:lpstr>
      <vt:lpstr>Times New Roman</vt:lpstr>
      <vt:lpstr>微软雅黑</vt:lpstr>
      <vt:lpstr>Arial Unicode MS</vt:lpstr>
      <vt:lpstr>等线</vt:lpstr>
      <vt:lpstr>Times New Roman</vt:lpstr>
      <vt:lpstr>楷体</vt:lpstr>
      <vt:lpstr>Office 主题​​</vt:lpstr>
      <vt:lpstr>PowerPoint 演示文稿</vt:lpstr>
      <vt:lpstr>选题依据</vt:lpstr>
      <vt:lpstr>选题依据</vt:lpstr>
      <vt:lpstr>1 选题依据</vt:lpstr>
      <vt:lpstr>1.2 国内外研究现状</vt:lpstr>
      <vt:lpstr>1.2 国内外研究现状</vt:lpstr>
      <vt:lpstr>拟研究方案</vt:lpstr>
      <vt:lpstr>2.2 创新点</vt:lpstr>
      <vt:lpstr>2.1 研究方案</vt:lpstr>
      <vt:lpstr>拟采用技术路线</vt:lpstr>
      <vt:lpstr>3.1 技术路线</vt:lpstr>
      <vt:lpstr>3.1 技术路线</vt:lpstr>
      <vt:lpstr>3.1 技术路线</vt:lpstr>
      <vt:lpstr>3.1 技术路线</vt:lpstr>
      <vt:lpstr>研究工作积累</vt:lpstr>
      <vt:lpstr>4.1 研究工作积累</vt:lpstr>
      <vt:lpstr>4.1 研究工作积累</vt:lpstr>
      <vt:lpstr>研究计划</vt:lpstr>
      <vt:lpstr>5.1 研究预期结果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YXyangxin</dc:creator>
  <cp:lastModifiedBy>Serendipity^</cp:lastModifiedBy>
  <cp:revision>10</cp:revision>
  <dcterms:created xsi:type="dcterms:W3CDTF">2024-10-03T09:11:00Z</dcterms:created>
  <dcterms:modified xsi:type="dcterms:W3CDTF">2025-12-08T14:28:47Z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67C32B78226F4B538041432EC1B22E72_12</vt:lpwstr>
  </property>
  <property fmtid="{D5CDD505-2E9C-101B-9397-08002B2CF9AE}" pid="3" name="KSOProductBuildVer">
    <vt:lpwstr>2052-12.1.0.23542</vt:lpwstr>
  </property>
</Properties>
</file>